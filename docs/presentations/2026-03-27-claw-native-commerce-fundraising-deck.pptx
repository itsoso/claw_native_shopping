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我们做的不是一个更会推荐商品的电商前台。
我们要占据的是用户主代理背后的消费交易底座位置。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今天购物真正贵的，不是支付动作，而是反复比较和判断的时间与脑力。
下一代电商的机会，不只是继续优化推荐，而是直接减少用户完成购买任务所需的认知劳动。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过去的入口是 App、搜索和推荐，用户自己完成点击与决策。
未来用户会先把任务交给 Agent，再由 Agent 决定在哪里买、怎么买、什么时候买。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Claw Native 不是 AI 导购，不是比价工具，也不是会聊天的电商助手。
我们把购买任务从页面操作流程升级成结构化代理流程，从而重构“怎么买”。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这套系统已经不是概念图，而是能真实演示的最小闭环。
一端贴近用户真实购物现场，一端验证代理交易后端，二者已经连接起来。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重点不是我们有页面，而是系统已经具备 seller 比选、策略判断和 explanation 这些代理式交易的核心步骤。
从建议到执行，中间不是黑箱，而是一条可回放、可审计的结构化链路。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真正的壁垒不是单次回答质量，而是交易编排的位置。
如果我们占据 buyer-agent-first 的编排层，位置会比单点前台产品深得多。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我们不是从大而全开始，而是从最能建立用户信任的高频消费任务切入。
先验证代理价值，再扩展到更多 category、seller 和协议层。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商业模式不会停留在内容流量，而会沿着代理实际替用户完成的交易深度向上走。
谁掌握交易执行权，谁就掌握长期商业价值。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我们不是在做一个更强的前台，而是在定义 Agent 时代新的交易操作系统。
Claw Native 想占据的是主代理时代的交易底座位置。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74320"/>
            <a:ext cx="3566160" cy="3566160"/>
          </a:xfrm>
          <a:prstGeom prst="ellipse">
            <a:avLst/>
          </a:prstGeom>
          <a:solidFill>
            <a:srgbClr val="A56A45">
              <a:alpha val="14000"/>
            </a:srgbClr>
          </a:solidFill>
          <a:ln w="12700">
            <a:solidFill>
              <a:srgbClr val="A56A4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3977640"/>
            <a:ext cx="4434840" cy="4434840"/>
          </a:xfrm>
          <a:prstGeom prst="ellipse">
            <a:avLst/>
          </a:prstGeom>
          <a:solidFill>
            <a:srgbClr val="6A7A72">
              <a:alpha val="12000"/>
            </a:srgbClr>
          </a:solidFill>
          <a:ln w="12700">
            <a:solidFill>
              <a:srgbClr val="6A7A7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" y="384048"/>
            <a:ext cx="1481328" cy="329184"/>
          </a:xfrm>
          <a:prstGeom prst="roundRect">
            <a:avLst>
              <a:gd name="adj" fmla="val 22222"/>
            </a:avLst>
          </a:prstGeom>
          <a:solidFill>
            <a:srgbClr val="A56A45"/>
          </a:solidFill>
          <a:ln w="12700">
            <a:solidFill>
              <a:srgbClr val="A56A4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61772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CLAW NATIVE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281160" y="429768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buyer-agent-first commerce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972800" y="42976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1/10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77824" y="1426464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Claw Native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877824" y="224028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用户主代理时代的消费交易底座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96112" y="315468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shopping assistance to buyer-agent-first commerce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96112" y="5248656"/>
            <a:ext cx="4526280" cy="530352"/>
          </a:xfrm>
          <a:prstGeom prst="roundRect">
            <a:avLst>
              <a:gd name="adj" fmla="val 13793"/>
            </a:avLst>
          </a:prstGeom>
          <a:solidFill>
            <a:srgbClr val="A56A45">
              <a:alpha val="92000"/>
            </a:srgbClr>
          </a:solidFill>
          <a:ln w="12700">
            <a:solidFill>
              <a:srgbClr val="A56A4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15568" y="5422392"/>
            <a:ext cx="4041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让代理替用户完成越来越多的购买决策与交易执行</a:t>
            </a:r>
            <a:endParaRPr lang="en-US" sz="12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81328" cy="329184"/>
          </a:xfrm>
          <a:prstGeom prst="roundRect">
            <a:avLst>
              <a:gd name="adj" fmla="val 22222"/>
            </a:avLst>
          </a:prstGeom>
          <a:solidFill>
            <a:srgbClr val="A56A45"/>
          </a:solidFill>
          <a:ln w="12700">
            <a:solidFill>
              <a:srgbClr val="A56A4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61772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CLAW NATIVE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281160" y="429768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buyer-agent-first commerce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972800" y="42976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Claw Native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77824" y="932688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今天购物最大的成本，是决策，不是支付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877824" y="171907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电商解决了供给与支付，但还没有解决高频消费里的判断负担。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96112" y="192024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C8A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LOAD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96112" y="2194560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用户浪费的不是钱，而是可复用的注意力。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96112" y="2999232"/>
            <a:ext cx="4983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F1E9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选规格、比卖家、看时效、算价格、判断是否现在下单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F1E9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这些动作在高频复购场景里被持续重复，却没有被真正托管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F1E9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所以交易入口会从 App 页面，迁移到能替用户做决定的主代理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446520" y="1920240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C8A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MANUAL STEPS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446520" y="2331720"/>
            <a:ext cx="3383280" cy="493776"/>
          </a:xfrm>
          <a:prstGeom prst="roundRect">
            <a:avLst>
              <a:gd name="adj" fmla="val 9259"/>
            </a:avLst>
          </a:prstGeom>
          <a:solidFill>
            <a:srgbClr val="232C3C"/>
          </a:solidFill>
          <a:ln w="12700">
            <a:solidFill>
              <a:srgbClr val="343E5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56832" y="2450592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E9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040880" y="2446020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E9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打开商品页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46520" y="3081528"/>
            <a:ext cx="4023360" cy="493776"/>
          </a:xfrm>
          <a:prstGeom prst="roundRect">
            <a:avLst>
              <a:gd name="adj" fmla="val 9259"/>
            </a:avLst>
          </a:prstGeom>
          <a:solidFill>
            <a:srgbClr val="232C3C"/>
          </a:solidFill>
          <a:ln w="12700">
            <a:solidFill>
              <a:srgbClr val="343E5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56832" y="3200400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E9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040880" y="3195828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E9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反复比较卖家与规格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446520" y="3831336"/>
            <a:ext cx="4434840" cy="493776"/>
          </a:xfrm>
          <a:prstGeom prst="roundRect">
            <a:avLst>
              <a:gd name="adj" fmla="val 9259"/>
            </a:avLst>
          </a:prstGeom>
          <a:solidFill>
            <a:srgbClr val="232C3C"/>
          </a:solidFill>
          <a:ln w="12700">
            <a:solidFill>
              <a:srgbClr val="343E5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56832" y="3950208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E9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040880" y="3945636"/>
            <a:ext cx="3611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E9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重新计算到手价与时效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446520" y="4581144"/>
            <a:ext cx="4846320" cy="493776"/>
          </a:xfrm>
          <a:prstGeom prst="roundRect">
            <a:avLst>
              <a:gd name="adj" fmla="val 9259"/>
            </a:avLst>
          </a:prstGeom>
          <a:solidFill>
            <a:srgbClr val="A56A45">
              <a:alpha val="84000"/>
            </a:srgbClr>
          </a:solidFill>
          <a:ln w="12700">
            <a:solidFill>
              <a:srgbClr val="A56A4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56832" y="4700016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E9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040880" y="4695444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E9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决定是否凑单 / 延迟下单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81328" cy="329184"/>
          </a:xfrm>
          <a:prstGeom prst="roundRect">
            <a:avLst>
              <a:gd name="adj" fmla="val 22222"/>
            </a:avLst>
          </a:prstGeom>
          <a:solidFill>
            <a:srgbClr val="A56A45"/>
          </a:solidFill>
          <a:ln w="12700">
            <a:solidFill>
              <a:srgbClr val="A56A4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61772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CLAW NATIVE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281160" y="429768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buyer-agent-first commerce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972800" y="42976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Claw Native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77824" y="932688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电商入口，正在从 App 迁移到 Agent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877824" y="171907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这不是搜索和推荐的迭代，而是交易入口范式迁移。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96112" y="1874520"/>
            <a:ext cx="5074920" cy="3611880"/>
          </a:xfrm>
          <a:prstGeom prst="roundRect">
            <a:avLst>
              <a:gd name="adj" fmla="val 1519"/>
            </a:avLst>
          </a:prstGeom>
          <a:solidFill>
            <a:srgbClr val="1B2230"/>
          </a:solidFill>
          <a:ln w="12700">
            <a:solidFill>
              <a:srgbClr val="343E5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568" y="2075688"/>
            <a:ext cx="4636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C8A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 WORLD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115568" y="2313432"/>
            <a:ext cx="4636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+ 搜索 + 推荐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115568" y="2788920"/>
            <a:ext cx="46360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平台分发内容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用户自己比较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用户自己点击完成交易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流量前台决定胜负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245352" y="1874520"/>
            <a:ext cx="5074920" cy="3611880"/>
          </a:xfrm>
          <a:prstGeom prst="roundRect">
            <a:avLst>
              <a:gd name="adj" fmla="val 1519"/>
            </a:avLst>
          </a:prstGeom>
          <a:solidFill>
            <a:srgbClr val="232C3C"/>
          </a:solidFill>
          <a:ln w="12700">
            <a:solidFill>
              <a:srgbClr val="A56A4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64808" y="2075688"/>
            <a:ext cx="4636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C8A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WORLD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464808" y="2313432"/>
            <a:ext cx="4636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+ 协议 + 编排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464808" y="2788920"/>
            <a:ext cx="46360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用户先交付任务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代理自动完成 seller 选择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交易通过协议执行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编排层决定长期价值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4370832" y="3154680"/>
            <a:ext cx="2971800" cy="384048"/>
          </a:xfrm>
          <a:prstGeom prst="roundRect">
            <a:avLst>
              <a:gd name="adj" fmla="val 50000"/>
            </a:avLst>
          </a:prstGeom>
          <a:solidFill>
            <a:srgbClr val="A56A45">
              <a:alpha val="94000"/>
            </a:srgbClr>
          </a:solidFill>
          <a:ln w="12700">
            <a:solidFill>
              <a:srgbClr val="A56A4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90288" y="3282696"/>
            <a:ext cx="2532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入口从“看什么”迁移到“怎么买”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81328" cy="329184"/>
          </a:xfrm>
          <a:prstGeom prst="roundRect">
            <a:avLst>
              <a:gd name="adj" fmla="val 22222"/>
            </a:avLst>
          </a:prstGeom>
          <a:solidFill>
            <a:srgbClr val="A56A45"/>
          </a:solidFill>
          <a:ln w="12700">
            <a:solidFill>
              <a:srgbClr val="A56A4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61772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CLAW NATIVE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281160" y="429768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buyer-agent-first commerce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972800" y="42976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Claw Native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77824" y="93268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Claw Native：买方代理优先的消费决策与交易执行系统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877824" y="171907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我们不是在优化“看什么”，而是在重构“怎么买”。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59536" y="2606040"/>
            <a:ext cx="1417320" cy="841248"/>
          </a:xfrm>
          <a:prstGeom prst="roundRect">
            <a:avLst>
              <a:gd name="adj" fmla="val 5435"/>
            </a:avLst>
          </a:prstGeom>
          <a:solidFill>
            <a:srgbClr val="A56A45"/>
          </a:solidFill>
          <a:ln w="12700">
            <a:solidFill>
              <a:srgbClr val="A56A4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7552" y="2770632"/>
            <a:ext cx="1161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E9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用户任务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295144" y="3017520"/>
            <a:ext cx="274320" cy="0"/>
          </a:xfrm>
          <a:prstGeom prst="line">
            <a:avLst/>
          </a:prstGeom>
          <a:noFill/>
          <a:ln w="22860">
            <a:solidFill>
              <a:srgbClr val="A56A45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642616" y="2606040"/>
            <a:ext cx="1417320" cy="841248"/>
          </a:xfrm>
          <a:prstGeom prst="roundRect">
            <a:avLst>
              <a:gd name="adj" fmla="val 5435"/>
            </a:avLst>
          </a:prstGeom>
          <a:solidFill>
            <a:srgbClr val="232C3C"/>
          </a:solidFill>
          <a:ln w="12700">
            <a:solidFill>
              <a:srgbClr val="343E5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70632" y="2770632"/>
            <a:ext cx="1161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E9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Intent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078224" y="3017520"/>
            <a:ext cx="274320" cy="0"/>
          </a:xfrm>
          <a:prstGeom prst="line">
            <a:avLst/>
          </a:prstGeom>
          <a:noFill/>
          <a:ln w="22860">
            <a:solidFill>
              <a:srgbClr val="A56A45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4425696" y="2606040"/>
            <a:ext cx="1417320" cy="841248"/>
          </a:xfrm>
          <a:prstGeom prst="roundRect">
            <a:avLst>
              <a:gd name="adj" fmla="val 5435"/>
            </a:avLst>
          </a:prstGeom>
          <a:solidFill>
            <a:srgbClr val="232C3C"/>
          </a:solidFill>
          <a:ln w="12700">
            <a:solidFill>
              <a:srgbClr val="343E5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53712" y="2770632"/>
            <a:ext cx="1161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E9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Seller 比选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861304" y="3017520"/>
            <a:ext cx="274320" cy="0"/>
          </a:xfrm>
          <a:prstGeom prst="line">
            <a:avLst/>
          </a:prstGeom>
          <a:noFill/>
          <a:ln w="22860">
            <a:solidFill>
              <a:srgbClr val="A56A45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208776" y="2606040"/>
            <a:ext cx="1417320" cy="841248"/>
          </a:xfrm>
          <a:prstGeom prst="roundRect">
            <a:avLst>
              <a:gd name="adj" fmla="val 5435"/>
            </a:avLst>
          </a:prstGeom>
          <a:solidFill>
            <a:srgbClr val="232C3C"/>
          </a:solidFill>
          <a:ln w="12700">
            <a:solidFill>
              <a:srgbClr val="343E5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36792" y="2770632"/>
            <a:ext cx="1161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E9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644384" y="3017520"/>
            <a:ext cx="274320" cy="0"/>
          </a:xfrm>
          <a:prstGeom prst="line">
            <a:avLst/>
          </a:prstGeom>
          <a:noFill/>
          <a:ln w="22860">
            <a:solidFill>
              <a:srgbClr val="A56A45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7991856" y="2606040"/>
            <a:ext cx="1417320" cy="841248"/>
          </a:xfrm>
          <a:prstGeom prst="roundRect">
            <a:avLst>
              <a:gd name="adj" fmla="val 5435"/>
            </a:avLst>
          </a:prstGeom>
          <a:solidFill>
            <a:srgbClr val="232C3C"/>
          </a:solidFill>
          <a:ln w="12700">
            <a:solidFill>
              <a:srgbClr val="343E5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19872" y="2770632"/>
            <a:ext cx="1161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E9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9427464" y="3017520"/>
            <a:ext cx="274320" cy="0"/>
          </a:xfrm>
          <a:prstGeom prst="line">
            <a:avLst/>
          </a:prstGeom>
          <a:noFill/>
          <a:ln w="22860">
            <a:solidFill>
              <a:srgbClr val="A56A45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9774936" y="2606040"/>
            <a:ext cx="1417320" cy="841248"/>
          </a:xfrm>
          <a:prstGeom prst="roundRect">
            <a:avLst>
              <a:gd name="adj" fmla="val 5435"/>
            </a:avLst>
          </a:prstGeom>
          <a:solidFill>
            <a:srgbClr val="1B2230"/>
          </a:solidFill>
          <a:ln w="12700">
            <a:solidFill>
              <a:srgbClr val="343E5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902952" y="2770632"/>
            <a:ext cx="1161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E9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Explanation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896112" y="4041648"/>
            <a:ext cx="3346704" cy="1298448"/>
          </a:xfrm>
          <a:prstGeom prst="roundRect">
            <a:avLst>
              <a:gd name="adj" fmla="val 4225"/>
            </a:avLst>
          </a:prstGeom>
          <a:solidFill>
            <a:srgbClr val="1B2230"/>
          </a:solidFill>
          <a:ln w="12700">
            <a:solidFill>
              <a:srgbClr val="343E5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15568" y="4242816"/>
            <a:ext cx="2907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C8A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1115568" y="4480560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导购 / 比价工具 / 会聊天的电商助手</a:t>
            </a:r>
            <a:endParaRPr lang="en-US" sz="1550" dirty="0"/>
          </a:p>
        </p:txBody>
      </p:sp>
      <p:sp>
        <p:nvSpPr>
          <p:cNvPr id="30" name="Shape 27"/>
          <p:cNvSpPr/>
          <p:nvPr/>
        </p:nvSpPr>
        <p:spPr>
          <a:xfrm>
            <a:off x="4443984" y="4041648"/>
            <a:ext cx="2880360" cy="1298448"/>
          </a:xfrm>
          <a:prstGeom prst="roundRect">
            <a:avLst>
              <a:gd name="adj" fmla="val 4225"/>
            </a:avLst>
          </a:prstGeom>
          <a:solidFill>
            <a:srgbClr val="232C3C"/>
          </a:solidFill>
          <a:ln w="12700">
            <a:solidFill>
              <a:srgbClr val="343E5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663440" y="4242816"/>
            <a:ext cx="2441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C8A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663440" y="4480560"/>
            <a:ext cx="2441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购物副驾 + buyer API + orchestrator</a:t>
            </a:r>
            <a:endParaRPr lang="en-US" sz="1550" dirty="0"/>
          </a:p>
        </p:txBody>
      </p:sp>
      <p:sp>
        <p:nvSpPr>
          <p:cNvPr id="33" name="Shape 30"/>
          <p:cNvSpPr/>
          <p:nvPr/>
        </p:nvSpPr>
        <p:spPr>
          <a:xfrm>
            <a:off x="7525512" y="4041648"/>
            <a:ext cx="3657600" cy="1298448"/>
          </a:xfrm>
          <a:prstGeom prst="roundRect">
            <a:avLst>
              <a:gd name="adj" fmla="val 4225"/>
            </a:avLst>
          </a:prstGeom>
          <a:solidFill>
            <a:srgbClr val="1B2230"/>
          </a:solidFill>
          <a:ln w="12700">
            <a:solidFill>
              <a:srgbClr val="A56A4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744968" y="4242816"/>
            <a:ext cx="3218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C8A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7744968" y="4480560"/>
            <a:ext cx="3218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从建议升级到结构化交易执行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81328" cy="329184"/>
          </a:xfrm>
          <a:prstGeom prst="roundRect">
            <a:avLst>
              <a:gd name="adj" fmla="val 22222"/>
            </a:avLst>
          </a:prstGeom>
          <a:solidFill>
            <a:srgbClr val="A56A45"/>
          </a:solidFill>
          <a:ln w="12700">
            <a:solidFill>
              <a:srgbClr val="A56A4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61772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CLAW NATIVE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281160" y="429768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buyer-agent-first commerce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972800" y="42976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Claw Native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77824" y="932688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当前产品已经跑通最小闭环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877824" y="171907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这不是 PPT 架构，而是可以真实演示的最小系统。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96112" y="1865376"/>
            <a:ext cx="4434840" cy="3456432"/>
          </a:xfrm>
          <a:prstGeom prst="roundRect">
            <a:avLst>
              <a:gd name="adj" fmla="val 1587"/>
            </a:avLst>
          </a:prstGeom>
          <a:solidFill>
            <a:srgbClr val="1B2230"/>
          </a:solidFill>
          <a:ln w="12700">
            <a:solidFill>
              <a:srgbClr val="343E5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1865376"/>
            <a:ext cx="4434840" cy="310896"/>
          </a:xfrm>
          <a:prstGeom prst="rect">
            <a:avLst/>
          </a:prstGeom>
          <a:solidFill>
            <a:srgbClr val="A56A45">
              <a:alpha val="96000"/>
            </a:srgbClr>
          </a:solidFill>
          <a:ln w="12700">
            <a:solidFill>
              <a:srgbClr val="A56A45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1947672"/>
            <a:ext cx="4032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E9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用户侧 / JD 购物副驾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097280" y="2487168"/>
            <a:ext cx="4032504" cy="347472"/>
          </a:xfrm>
          <a:prstGeom prst="roundRect">
            <a:avLst>
              <a:gd name="adj" fmla="val 9211"/>
            </a:avLst>
          </a:prstGeom>
          <a:solidFill>
            <a:srgbClr val="232C3C"/>
          </a:solidFill>
          <a:ln w="12700">
            <a:solidFill>
              <a:srgbClr val="A56A4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25296" y="2587752"/>
            <a:ext cx="3776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E9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商品页一句话建议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097280" y="3008376"/>
            <a:ext cx="4032504" cy="347472"/>
          </a:xfrm>
          <a:prstGeom prst="roundRect">
            <a:avLst>
              <a:gd name="adj" fmla="val 9211"/>
            </a:avLst>
          </a:prstGeom>
          <a:solidFill>
            <a:srgbClr val="11161F"/>
          </a:solidFill>
          <a:ln w="12700">
            <a:solidFill>
              <a:srgbClr val="343E5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25296" y="3108960"/>
            <a:ext cx="3776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E9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购物车执行方案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1097280" y="3529584"/>
            <a:ext cx="4032504" cy="347472"/>
          </a:xfrm>
          <a:prstGeom prst="roundRect">
            <a:avLst>
              <a:gd name="adj" fmla="val 9211"/>
            </a:avLst>
          </a:prstGeom>
          <a:solidFill>
            <a:srgbClr val="11161F"/>
          </a:solidFill>
          <a:ln w="12700">
            <a:solidFill>
              <a:srgbClr val="343E5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25296" y="3630168"/>
            <a:ext cx="3776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E9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本地偏好与事件存储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1097280" y="4050792"/>
            <a:ext cx="4032504" cy="347472"/>
          </a:xfrm>
          <a:prstGeom prst="roundRect">
            <a:avLst>
              <a:gd name="adj" fmla="val 9211"/>
            </a:avLst>
          </a:prstGeom>
          <a:solidFill>
            <a:srgbClr val="11161F"/>
          </a:solidFill>
          <a:ln w="12700">
            <a:solidFill>
              <a:srgbClr val="343E5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25296" y="4151376"/>
            <a:ext cx="3776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E9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真实购物现场入口层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504688" y="1865376"/>
            <a:ext cx="4434840" cy="3456432"/>
          </a:xfrm>
          <a:prstGeom prst="roundRect">
            <a:avLst>
              <a:gd name="adj" fmla="val 1587"/>
            </a:avLst>
          </a:prstGeom>
          <a:solidFill>
            <a:srgbClr val="1B2230"/>
          </a:solidFill>
          <a:ln w="12700">
            <a:solidFill>
              <a:srgbClr val="343E5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504688" y="1865376"/>
            <a:ext cx="4434840" cy="310896"/>
          </a:xfrm>
          <a:prstGeom prst="rect">
            <a:avLst/>
          </a:prstGeom>
          <a:solidFill>
            <a:srgbClr val="6A7A72">
              <a:alpha val="96000"/>
            </a:srgbClr>
          </a:solidFill>
          <a:ln w="12700">
            <a:solidFill>
              <a:srgbClr val="6A7A72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05856" y="1947672"/>
            <a:ext cx="4032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E9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系统侧 / Native Commerce Backend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705856" y="2487168"/>
            <a:ext cx="4032504" cy="347472"/>
          </a:xfrm>
          <a:prstGeom prst="roundRect">
            <a:avLst>
              <a:gd name="adj" fmla="val 9211"/>
            </a:avLst>
          </a:prstGeom>
          <a:solidFill>
            <a:srgbClr val="232C3C"/>
          </a:solidFill>
          <a:ln w="12700">
            <a:solidFill>
              <a:srgbClr val="6A7A7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33872" y="2587752"/>
            <a:ext cx="3776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E9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API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705856" y="3008376"/>
            <a:ext cx="4032504" cy="347472"/>
          </a:xfrm>
          <a:prstGeom prst="roundRect">
            <a:avLst>
              <a:gd name="adj" fmla="val 9211"/>
            </a:avLst>
          </a:prstGeom>
          <a:solidFill>
            <a:srgbClr val="11161F"/>
          </a:solidFill>
          <a:ln w="12700">
            <a:solidFill>
              <a:srgbClr val="343E5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33872" y="3108960"/>
            <a:ext cx="3776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E9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procurement orchestrator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705856" y="3529584"/>
            <a:ext cx="4032504" cy="347472"/>
          </a:xfrm>
          <a:prstGeom prst="roundRect">
            <a:avLst>
              <a:gd name="adj" fmla="val 9211"/>
            </a:avLst>
          </a:prstGeom>
          <a:solidFill>
            <a:srgbClr val="11161F"/>
          </a:solidFill>
          <a:ln w="12700">
            <a:solidFill>
              <a:srgbClr val="343E5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33872" y="3630168"/>
            <a:ext cx="3776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E9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seller-sim + seller protocol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705856" y="4050792"/>
            <a:ext cx="4032504" cy="347472"/>
          </a:xfrm>
          <a:prstGeom prst="roundRect">
            <a:avLst>
              <a:gd name="adj" fmla="val 9211"/>
            </a:avLst>
          </a:prstGeom>
          <a:solidFill>
            <a:srgbClr val="11161F"/>
          </a:solidFill>
          <a:ln w="12700">
            <a:solidFill>
              <a:srgbClr val="343E5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33872" y="4151376"/>
            <a:ext cx="3776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E9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validation console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10149840" y="1865376"/>
            <a:ext cx="1078992" cy="932688"/>
          </a:xfrm>
          <a:prstGeom prst="roundRect">
            <a:avLst>
              <a:gd name="adj" fmla="val 4902"/>
            </a:avLst>
          </a:prstGeom>
          <a:solidFill>
            <a:srgbClr val="1B2230"/>
          </a:solidFill>
          <a:ln w="12700">
            <a:solidFill>
              <a:srgbClr val="343E5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332720" y="2048256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20" kern="0" dirty="0">
                <a:solidFill>
                  <a:srgbClr val="98A1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SURFACES</a:t>
            </a:r>
            <a:endParaRPr lang="en-US" sz="880" dirty="0"/>
          </a:p>
        </p:txBody>
      </p:sp>
      <p:sp>
        <p:nvSpPr>
          <p:cNvPr id="34" name="Text 31"/>
          <p:cNvSpPr/>
          <p:nvPr/>
        </p:nvSpPr>
        <p:spPr>
          <a:xfrm>
            <a:off x="10332720" y="2276856"/>
            <a:ext cx="713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100" dirty="0"/>
          </a:p>
        </p:txBody>
      </p:sp>
      <p:sp>
        <p:nvSpPr>
          <p:cNvPr id="35" name="Text 32"/>
          <p:cNvSpPr/>
          <p:nvPr/>
        </p:nvSpPr>
        <p:spPr>
          <a:xfrm>
            <a:off x="10332720" y="2450592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真实运行层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10149840" y="2944368"/>
            <a:ext cx="1078992" cy="932688"/>
          </a:xfrm>
          <a:prstGeom prst="roundRect">
            <a:avLst>
              <a:gd name="adj" fmla="val 4902"/>
            </a:avLst>
          </a:prstGeom>
          <a:solidFill>
            <a:srgbClr val="1B2230"/>
          </a:solidFill>
          <a:ln w="12700">
            <a:solidFill>
              <a:srgbClr val="343E5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332720" y="3127248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20" kern="0" dirty="0">
                <a:solidFill>
                  <a:srgbClr val="98A1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880" dirty="0"/>
          </a:p>
        </p:txBody>
      </p:sp>
      <p:sp>
        <p:nvSpPr>
          <p:cNvPr id="38" name="Text 35"/>
          <p:cNvSpPr/>
          <p:nvPr/>
        </p:nvSpPr>
        <p:spPr>
          <a:xfrm>
            <a:off x="10332720" y="3355848"/>
            <a:ext cx="713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100" dirty="0"/>
          </a:p>
        </p:txBody>
      </p:sp>
      <p:sp>
        <p:nvSpPr>
          <p:cNvPr id="39" name="Text 36"/>
          <p:cNvSpPr/>
          <p:nvPr/>
        </p:nvSpPr>
        <p:spPr>
          <a:xfrm>
            <a:off x="10332720" y="3529584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端到端闭环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10149840" y="4023360"/>
            <a:ext cx="1078992" cy="932688"/>
          </a:xfrm>
          <a:prstGeom prst="roundRect">
            <a:avLst>
              <a:gd name="adj" fmla="val 4902"/>
            </a:avLst>
          </a:prstGeom>
          <a:solidFill>
            <a:srgbClr val="1B2230"/>
          </a:solidFill>
          <a:ln w="12700">
            <a:solidFill>
              <a:srgbClr val="343E5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332720" y="4206240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20" kern="0" dirty="0">
                <a:solidFill>
                  <a:srgbClr val="98A1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880" dirty="0"/>
          </a:p>
        </p:txBody>
      </p:sp>
      <p:sp>
        <p:nvSpPr>
          <p:cNvPr id="42" name="Text 39"/>
          <p:cNvSpPr/>
          <p:nvPr/>
        </p:nvSpPr>
        <p:spPr>
          <a:xfrm>
            <a:off x="10332720" y="4434840"/>
            <a:ext cx="713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10332720" y="4608576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可验证代理价值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81328" cy="329184"/>
          </a:xfrm>
          <a:prstGeom prst="roundRect">
            <a:avLst>
              <a:gd name="adj" fmla="val 22222"/>
            </a:avLst>
          </a:prstGeom>
          <a:solidFill>
            <a:srgbClr val="A56A45"/>
          </a:solidFill>
          <a:ln w="12700">
            <a:solidFill>
              <a:srgbClr val="A56A4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61772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CLAW NATIVE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281160" y="429768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buyer-agent-first commerce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972800" y="42976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Claw Native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77824" y="932688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系统已经能完成一条真实代理交易链路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877824" y="171907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从建议到执行，中间不是黑箱，而是结构化链路。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94944" y="2697480"/>
            <a:ext cx="1188720" cy="896112"/>
          </a:xfrm>
          <a:prstGeom prst="roundRect">
            <a:avLst>
              <a:gd name="adj" fmla="val 5102"/>
            </a:avLst>
          </a:prstGeom>
          <a:solidFill>
            <a:srgbClr val="A56A45"/>
          </a:solidFill>
          <a:ln w="12700">
            <a:solidFill>
              <a:srgbClr val="A56A4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862072"/>
            <a:ext cx="932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E9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补货请求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901952" y="3145536"/>
            <a:ext cx="173736" cy="0"/>
          </a:xfrm>
          <a:prstGeom prst="line">
            <a:avLst/>
          </a:prstGeom>
          <a:noFill/>
          <a:ln w="22860">
            <a:solidFill>
              <a:srgbClr val="C8A083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093976" y="2697480"/>
            <a:ext cx="1188720" cy="896112"/>
          </a:xfrm>
          <a:prstGeom prst="roundRect">
            <a:avLst>
              <a:gd name="adj" fmla="val 5102"/>
            </a:avLst>
          </a:prstGeom>
          <a:solidFill>
            <a:srgbClr val="232C3C"/>
          </a:solidFill>
          <a:ln w="12700">
            <a:solidFill>
              <a:srgbClr val="343E5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21992" y="2862072"/>
            <a:ext cx="932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E9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Procurement Intent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300984" y="3145536"/>
            <a:ext cx="173736" cy="0"/>
          </a:xfrm>
          <a:prstGeom prst="line">
            <a:avLst/>
          </a:prstGeom>
          <a:noFill/>
          <a:ln w="22860">
            <a:solidFill>
              <a:srgbClr val="C8A083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493008" y="2697480"/>
            <a:ext cx="1188720" cy="896112"/>
          </a:xfrm>
          <a:prstGeom prst="roundRect">
            <a:avLst>
              <a:gd name="adj" fmla="val 5102"/>
            </a:avLst>
          </a:prstGeom>
          <a:solidFill>
            <a:srgbClr val="232C3C"/>
          </a:solidFill>
          <a:ln w="12700">
            <a:solidFill>
              <a:srgbClr val="343E5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21024" y="2862072"/>
            <a:ext cx="932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E9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多 Seller Quote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700016" y="3145536"/>
            <a:ext cx="173736" cy="0"/>
          </a:xfrm>
          <a:prstGeom prst="line">
            <a:avLst/>
          </a:prstGeom>
          <a:noFill/>
          <a:ln w="22860">
            <a:solidFill>
              <a:srgbClr val="C8A083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4892040" y="2697480"/>
            <a:ext cx="1188720" cy="896112"/>
          </a:xfrm>
          <a:prstGeom prst="roundRect">
            <a:avLst>
              <a:gd name="adj" fmla="val 5102"/>
            </a:avLst>
          </a:prstGeom>
          <a:solidFill>
            <a:srgbClr val="A56A45"/>
          </a:solidFill>
          <a:ln w="12700">
            <a:solidFill>
              <a:srgbClr val="A56A4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0056" y="2862072"/>
            <a:ext cx="932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E9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Ranking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099048" y="3145536"/>
            <a:ext cx="173736" cy="0"/>
          </a:xfrm>
          <a:prstGeom prst="line">
            <a:avLst/>
          </a:prstGeom>
          <a:noFill/>
          <a:ln w="22860">
            <a:solidFill>
              <a:srgbClr val="C8A083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6291072" y="2697480"/>
            <a:ext cx="1188720" cy="896112"/>
          </a:xfrm>
          <a:prstGeom prst="roundRect">
            <a:avLst>
              <a:gd name="adj" fmla="val 5102"/>
            </a:avLst>
          </a:prstGeom>
          <a:solidFill>
            <a:srgbClr val="232C3C"/>
          </a:solidFill>
          <a:ln w="12700">
            <a:solidFill>
              <a:srgbClr val="343E5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19088" y="2862072"/>
            <a:ext cx="932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E9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498080" y="3145536"/>
            <a:ext cx="173736" cy="0"/>
          </a:xfrm>
          <a:prstGeom prst="line">
            <a:avLst/>
          </a:prstGeom>
          <a:noFill/>
          <a:ln w="22860">
            <a:solidFill>
              <a:srgbClr val="C8A083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690104" y="2697480"/>
            <a:ext cx="1188720" cy="896112"/>
          </a:xfrm>
          <a:prstGeom prst="roundRect">
            <a:avLst>
              <a:gd name="adj" fmla="val 5102"/>
            </a:avLst>
          </a:prstGeom>
          <a:solidFill>
            <a:srgbClr val="232C3C"/>
          </a:solidFill>
          <a:ln w="12700">
            <a:solidFill>
              <a:srgbClr val="343E5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818120" y="2862072"/>
            <a:ext cx="932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E9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Hold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8897112" y="3145536"/>
            <a:ext cx="173736" cy="0"/>
          </a:xfrm>
          <a:prstGeom prst="line">
            <a:avLst/>
          </a:prstGeom>
          <a:noFill/>
          <a:ln w="22860">
            <a:solidFill>
              <a:srgbClr val="C8A083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9089136" y="2697480"/>
            <a:ext cx="1188720" cy="896112"/>
          </a:xfrm>
          <a:prstGeom prst="roundRect">
            <a:avLst>
              <a:gd name="adj" fmla="val 5102"/>
            </a:avLst>
          </a:prstGeom>
          <a:solidFill>
            <a:srgbClr val="A56A45"/>
          </a:solidFill>
          <a:ln w="12700">
            <a:solidFill>
              <a:srgbClr val="A56A4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217152" y="2862072"/>
            <a:ext cx="932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E9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10296144" y="3145536"/>
            <a:ext cx="173736" cy="0"/>
          </a:xfrm>
          <a:prstGeom prst="line">
            <a:avLst/>
          </a:prstGeom>
          <a:noFill/>
          <a:ln w="22860">
            <a:solidFill>
              <a:srgbClr val="C8A083"/>
            </a:solidFill>
            <a:prstDash val="solid"/>
            <a:headEnd type="none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10488168" y="2697480"/>
            <a:ext cx="1188720" cy="896112"/>
          </a:xfrm>
          <a:prstGeom prst="roundRect">
            <a:avLst>
              <a:gd name="adj" fmla="val 5102"/>
            </a:avLst>
          </a:prstGeom>
          <a:solidFill>
            <a:srgbClr val="232C3C"/>
          </a:solidFill>
          <a:ln w="12700">
            <a:solidFill>
              <a:srgbClr val="343E5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616184" y="2862072"/>
            <a:ext cx="932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E9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Explanation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896112" y="4315968"/>
            <a:ext cx="5230368" cy="1280160"/>
          </a:xfrm>
          <a:prstGeom prst="roundRect">
            <a:avLst>
              <a:gd name="adj" fmla="val 4286"/>
            </a:avLst>
          </a:prstGeom>
          <a:solidFill>
            <a:srgbClr val="1B2230"/>
          </a:solidFill>
          <a:ln w="12700">
            <a:solidFill>
              <a:srgbClr val="343E5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115568" y="4517136"/>
            <a:ext cx="4791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C8A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1115568" y="4754880"/>
            <a:ext cx="4791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核心不是页面，而是 seller 选择、策略判断和 commit 这些代理式交易步骤已经真实存在。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355080" y="4315968"/>
            <a:ext cx="4846320" cy="1280160"/>
          </a:xfrm>
          <a:prstGeom prst="roundRect">
            <a:avLst>
              <a:gd name="adj" fmla="val 4286"/>
            </a:avLst>
          </a:prstGeom>
          <a:solidFill>
            <a:srgbClr val="232C3C"/>
          </a:solidFill>
          <a:ln w="12700">
            <a:solidFill>
              <a:srgbClr val="A56A4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574536" y="4517136"/>
            <a:ext cx="4407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C8A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AUDITABILITY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574536" y="4754880"/>
            <a:ext cx="4407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每一步都能被 explanation 回放，这才是后续托管额度与自动执行的信任基础。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81328" cy="329184"/>
          </a:xfrm>
          <a:prstGeom prst="roundRect">
            <a:avLst>
              <a:gd name="adj" fmla="val 22222"/>
            </a:avLst>
          </a:prstGeom>
          <a:solidFill>
            <a:srgbClr val="A56A45"/>
          </a:solidFill>
          <a:ln w="12700">
            <a:solidFill>
              <a:srgbClr val="A56A4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61772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CLAW NATIVE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281160" y="429768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buyer-agent-first commerce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972800" y="42976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Claw Native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77824" y="932688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真正的壁垒，不在模型，而在交易编排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877824" y="171907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长期护城河来自系统位置，而不是单次回答质量。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36592" y="2057400"/>
            <a:ext cx="2697480" cy="2697480"/>
          </a:xfrm>
          <a:prstGeom prst="ellipse">
            <a:avLst/>
          </a:prstGeom>
          <a:solidFill>
            <a:srgbClr val="232C3C"/>
          </a:solidFill>
          <a:ln w="17780">
            <a:solidFill>
              <a:srgbClr val="A56A4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56632" y="2816352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Orchestrator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4956048" y="3218688"/>
            <a:ext cx="2267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transaction brain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96112" y="2029968"/>
            <a:ext cx="2926080" cy="1078992"/>
          </a:xfrm>
          <a:prstGeom prst="roundRect">
            <a:avLst>
              <a:gd name="adj" fmla="val 5085"/>
            </a:avLst>
          </a:prstGeom>
          <a:solidFill>
            <a:srgbClr val="1B2230"/>
          </a:solidFill>
          <a:ln w="12700">
            <a:solidFill>
              <a:srgbClr val="343E5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5568" y="224942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buyer API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115568" y="2871216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代理交易入口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96112" y="3675888"/>
            <a:ext cx="2926080" cy="1078992"/>
          </a:xfrm>
          <a:prstGeom prst="roundRect">
            <a:avLst>
              <a:gd name="adj" fmla="val 5085"/>
            </a:avLst>
          </a:prstGeom>
          <a:solidFill>
            <a:srgbClr val="1B2230"/>
          </a:solidFill>
          <a:ln w="12700">
            <a:solidFill>
              <a:srgbClr val="343E5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15568" y="389534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seller protocol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115568" y="4517136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卖家交互边界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339328" y="2029968"/>
            <a:ext cx="2926080" cy="1078992"/>
          </a:xfrm>
          <a:prstGeom prst="roundRect">
            <a:avLst>
              <a:gd name="adj" fmla="val 5085"/>
            </a:avLst>
          </a:prstGeom>
          <a:solidFill>
            <a:srgbClr val="1B2230"/>
          </a:solidFill>
          <a:ln w="12700">
            <a:solidFill>
              <a:srgbClr val="343E5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58784" y="224942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offer evaluator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8558784" y="2871216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多 seller 自动比选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339328" y="3675888"/>
            <a:ext cx="2926080" cy="1078992"/>
          </a:xfrm>
          <a:prstGeom prst="roundRect">
            <a:avLst>
              <a:gd name="adj" fmla="val 5085"/>
            </a:avLst>
          </a:prstGeom>
          <a:solidFill>
            <a:srgbClr val="1B2230"/>
          </a:solidFill>
          <a:ln w="12700">
            <a:solidFill>
              <a:srgbClr val="343E5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558784" y="389534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engine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8558784" y="4517136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风险和授权控制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840480" y="2578608"/>
            <a:ext cx="841248" cy="0"/>
          </a:xfrm>
          <a:prstGeom prst="line">
            <a:avLst/>
          </a:prstGeom>
          <a:noFill/>
          <a:ln w="22860">
            <a:solidFill>
              <a:srgbClr val="343E51"/>
            </a:solidFill>
            <a:prstDash val="solid"/>
            <a:headEnd type="none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3840480" y="4224528"/>
            <a:ext cx="841248" cy="0"/>
          </a:xfrm>
          <a:prstGeom prst="line">
            <a:avLst/>
          </a:prstGeom>
          <a:noFill/>
          <a:ln w="22860">
            <a:solidFill>
              <a:srgbClr val="343E51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7424928" y="2578608"/>
            <a:ext cx="841248" cy="0"/>
          </a:xfrm>
          <a:prstGeom prst="line">
            <a:avLst/>
          </a:prstGeom>
          <a:noFill/>
          <a:ln w="22860">
            <a:solidFill>
              <a:srgbClr val="343E51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7424928" y="4224528"/>
            <a:ext cx="841248" cy="0"/>
          </a:xfrm>
          <a:prstGeom prst="line">
            <a:avLst/>
          </a:prstGeom>
          <a:noFill/>
          <a:ln w="22860">
            <a:solidFill>
              <a:srgbClr val="343E51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3401568" y="5266944"/>
            <a:ext cx="5349240" cy="804672"/>
          </a:xfrm>
          <a:prstGeom prst="roundRect">
            <a:avLst>
              <a:gd name="adj" fmla="val 6818"/>
            </a:avLst>
          </a:prstGeom>
          <a:solidFill>
            <a:srgbClr val="232C3C"/>
          </a:solidFill>
          <a:ln w="12700">
            <a:solidFill>
              <a:srgbClr val="A56A4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21024" y="5468112"/>
            <a:ext cx="4910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C8A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MOAT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3621024" y="5705856"/>
            <a:ext cx="4910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位置、状态、解释能力叠加起来，才形成主代理时代的交易护城河。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81328" cy="329184"/>
          </a:xfrm>
          <a:prstGeom prst="roundRect">
            <a:avLst>
              <a:gd name="adj" fmla="val 22222"/>
            </a:avLst>
          </a:prstGeom>
          <a:solidFill>
            <a:srgbClr val="A56A45"/>
          </a:solidFill>
          <a:ln w="12700">
            <a:solidFill>
              <a:srgbClr val="A56A4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61772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CLAW NATIVE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281160" y="429768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buyer-agent-first commerce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972800" y="42976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Claw Native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77824" y="932688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我们从高频消费切入，但目标不是小工具市场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877824" y="171907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从最容易验证代理价值的场景切入，向更大的 agent commerce 扩展。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14400" y="4892040"/>
            <a:ext cx="1783080" cy="676656"/>
          </a:xfrm>
          <a:prstGeom prst="roundRect">
            <a:avLst>
              <a:gd name="adj" fmla="val 8108"/>
            </a:avLst>
          </a:prstGeom>
          <a:solidFill>
            <a:srgbClr val="1B2230"/>
          </a:solidFill>
          <a:ln w="12700">
            <a:solidFill>
              <a:srgbClr val="343E5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33856" y="5111496"/>
            <a:ext cx="1344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高频日用品复购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2834640" y="425196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1B2230"/>
          </a:solidFill>
          <a:ln w="12700">
            <a:solidFill>
              <a:srgbClr val="343E5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54096" y="4471416"/>
            <a:ext cx="1435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家庭采购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4846320" y="3493008"/>
            <a:ext cx="1938528" cy="1024128"/>
          </a:xfrm>
          <a:prstGeom prst="roundRect">
            <a:avLst>
              <a:gd name="adj" fmla="val 5357"/>
            </a:avLst>
          </a:prstGeom>
          <a:solidFill>
            <a:srgbClr val="1B2230"/>
          </a:solidFill>
          <a:ln w="12700">
            <a:solidFill>
              <a:srgbClr val="343E5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65776" y="3712464"/>
            <a:ext cx="1499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本地生活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922008" y="2578608"/>
            <a:ext cx="1993392" cy="1207008"/>
          </a:xfrm>
          <a:prstGeom prst="roundRect">
            <a:avLst>
              <a:gd name="adj" fmla="val 4545"/>
            </a:avLst>
          </a:prstGeom>
          <a:solidFill>
            <a:srgbClr val="1B2230"/>
          </a:solidFill>
          <a:ln w="12700">
            <a:solidFill>
              <a:srgbClr val="343E5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41464" y="279806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企业采购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9052560" y="1444752"/>
            <a:ext cx="2148840" cy="1572768"/>
          </a:xfrm>
          <a:prstGeom prst="roundRect">
            <a:avLst>
              <a:gd name="adj" fmla="val 3488"/>
            </a:avLst>
          </a:prstGeom>
          <a:solidFill>
            <a:srgbClr val="232C3C"/>
          </a:solidFill>
          <a:ln w="12700">
            <a:solidFill>
              <a:srgbClr val="A56A4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272016" y="1645920"/>
            <a:ext cx="1709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C8A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9272016" y="1883664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Commerce Network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14400" y="1965960"/>
            <a:ext cx="4526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切入顺序不是从市场最大处开始，而是从代理价值最容易被验证、最容易被复用的场景开始。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914400" y="2761488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先拿下一个高频决策入口，再扩展到更多 category、更多 seller、更多协议层。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81328" cy="329184"/>
          </a:xfrm>
          <a:prstGeom prst="roundRect">
            <a:avLst>
              <a:gd name="adj" fmla="val 22222"/>
            </a:avLst>
          </a:prstGeom>
          <a:solidFill>
            <a:srgbClr val="A56A45"/>
          </a:solidFill>
          <a:ln w="12700">
            <a:solidFill>
              <a:srgbClr val="A56A4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61772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CLAW NATIVE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281160" y="429768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buyer-agent-first commerce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972800" y="42976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9/10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Claw Native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77824" y="932688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商业模式会从代理价值，走向交易价值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877824" y="171907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谁掌握交易执行权，谁就掌握长期商业价值。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96112" y="1847088"/>
            <a:ext cx="3401568" cy="3675888"/>
          </a:xfrm>
          <a:prstGeom prst="roundRect">
            <a:avLst>
              <a:gd name="adj" fmla="val 1613"/>
            </a:avLst>
          </a:prstGeom>
          <a:solidFill>
            <a:srgbClr val="1B2230"/>
          </a:solidFill>
          <a:ln w="12700">
            <a:solidFill>
              <a:srgbClr val="343E5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568" y="2048256"/>
            <a:ext cx="2962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C8A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115568" y="2286000"/>
            <a:ext cx="296265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会员订阅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返佣 / CPS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高频代理服务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115568" y="2761488"/>
            <a:ext cx="296265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围绕“帮用户更快完成购买任务”建立早期付费和交易验证。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434840" y="1847088"/>
            <a:ext cx="3401568" cy="3675888"/>
          </a:xfrm>
          <a:prstGeom prst="roundRect">
            <a:avLst>
              <a:gd name="adj" fmla="val 1613"/>
            </a:avLst>
          </a:prstGeom>
          <a:solidFill>
            <a:srgbClr val="232C3C"/>
          </a:solidFill>
          <a:ln w="12700">
            <a:solidFill>
              <a:srgbClr val="343E5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54296" y="2048256"/>
            <a:ext cx="2962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C8A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654296" y="2286000"/>
            <a:ext cx="296265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交易分成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seller 接入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企业采购 agent 收费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654296" y="2761488"/>
            <a:ext cx="296265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围绕更深层的代理交易执行权建立平台化收入结构。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973568" y="1847088"/>
            <a:ext cx="3246120" cy="3675888"/>
          </a:xfrm>
          <a:prstGeom prst="roundRect">
            <a:avLst>
              <a:gd name="adj" fmla="val 1690"/>
            </a:avLst>
          </a:prstGeom>
          <a:solidFill>
            <a:srgbClr val="1B2230"/>
          </a:solidFill>
          <a:ln w="12700">
            <a:solidFill>
              <a:srgbClr val="A56A4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93024" y="2048256"/>
            <a:ext cx="2807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C8A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TERM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193024" y="2286000"/>
            <a:ext cx="28072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Commerce Infrastructure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8193024" y="2761488"/>
            <a:ext cx="2807208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从单点产品走向 buyer-side transaction operating layer。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74320"/>
            <a:ext cx="3566160" cy="3566160"/>
          </a:xfrm>
          <a:prstGeom prst="ellipse">
            <a:avLst/>
          </a:prstGeom>
          <a:solidFill>
            <a:srgbClr val="A56A45">
              <a:alpha val="14000"/>
            </a:srgbClr>
          </a:solidFill>
          <a:ln w="12700">
            <a:solidFill>
              <a:srgbClr val="A56A4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3977640"/>
            <a:ext cx="4434840" cy="4434840"/>
          </a:xfrm>
          <a:prstGeom prst="ellipse">
            <a:avLst/>
          </a:prstGeom>
          <a:solidFill>
            <a:srgbClr val="6A7A72">
              <a:alpha val="12000"/>
            </a:srgbClr>
          </a:solidFill>
          <a:ln w="12700">
            <a:solidFill>
              <a:srgbClr val="6A7A7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" y="384048"/>
            <a:ext cx="1481328" cy="329184"/>
          </a:xfrm>
          <a:prstGeom prst="roundRect">
            <a:avLst>
              <a:gd name="adj" fmla="val 22222"/>
            </a:avLst>
          </a:prstGeom>
          <a:solidFill>
            <a:srgbClr val="A56A45"/>
          </a:solidFill>
          <a:ln w="12700">
            <a:solidFill>
              <a:srgbClr val="A56A4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61772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CLAW NATIVE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281160" y="429768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buyer-agent-first commerce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972800" y="42976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10/10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96112" y="117043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我们想占据的，不是新的流量位，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896112" y="171907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而是主代理背后的交易底座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896112" y="3749040"/>
            <a:ext cx="2834640" cy="1572768"/>
          </a:xfrm>
          <a:prstGeom prst="roundRect">
            <a:avLst>
              <a:gd name="adj" fmla="val 3488"/>
            </a:avLst>
          </a:prstGeom>
          <a:solidFill>
            <a:srgbClr val="1B2230"/>
          </a:solidFill>
          <a:ln w="12700">
            <a:solidFill>
              <a:srgbClr val="343E5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3950208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C8A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115568" y="4187952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真实 seller network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1115568" y="4663440"/>
            <a:ext cx="23957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替代 seller-sim，进入真实协议接入。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4087368" y="3749040"/>
            <a:ext cx="2834640" cy="1572768"/>
          </a:xfrm>
          <a:prstGeom prst="roundRect">
            <a:avLst>
              <a:gd name="adj" fmla="val 3488"/>
            </a:avLst>
          </a:prstGeom>
          <a:solidFill>
            <a:srgbClr val="1B2230"/>
          </a:solidFill>
          <a:ln w="12700">
            <a:solidFill>
              <a:srgbClr val="343E5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06824" y="3950208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C8A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306824" y="4187952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前端与 buyer API 打通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4306824" y="4663440"/>
            <a:ext cx="23957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让购物副驾进入真实代理交易后端。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7278624" y="3749040"/>
            <a:ext cx="2834640" cy="1572768"/>
          </a:xfrm>
          <a:prstGeom prst="roundRect">
            <a:avLst>
              <a:gd name="adj" fmla="val 3488"/>
            </a:avLst>
          </a:prstGeom>
          <a:solidFill>
            <a:srgbClr val="1B2230"/>
          </a:solidFill>
          <a:ln w="12700">
            <a:solidFill>
              <a:srgbClr val="A56A4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98080" y="3950208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C8A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498080" y="4187952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1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生产级交易底座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7498080" y="4663440"/>
            <a:ext cx="23957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C8C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升级持久化、审计与商业化验证。</a:t>
            </a:r>
            <a:endParaRPr lang="en-US" sz="1120" dirty="0"/>
          </a:p>
        </p:txBody>
      </p:sp>
      <p:sp>
        <p:nvSpPr>
          <p:cNvPr id="23" name="Shape 20"/>
          <p:cNvSpPr/>
          <p:nvPr/>
        </p:nvSpPr>
        <p:spPr>
          <a:xfrm>
            <a:off x="896112" y="5797296"/>
            <a:ext cx="6126480" cy="621792"/>
          </a:xfrm>
          <a:prstGeom prst="roundRect">
            <a:avLst>
              <a:gd name="adj" fmla="val 11765"/>
            </a:avLst>
          </a:prstGeom>
          <a:solidFill>
            <a:srgbClr val="A56A45">
              <a:alpha val="90000"/>
            </a:srgbClr>
          </a:solidFill>
          <a:ln w="12700">
            <a:solidFill>
              <a:srgbClr val="A56A4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33856" y="5989320"/>
            <a:ext cx="56327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Claw Native 不是更聪明的导购，而是用户主代理时代的消费交易底座。</a:t>
            </a:r>
            <a:endParaRPr lang="en-US" sz="12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Claw Native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Claw Native Fundraising Deck</dc:title>
  <dc:subject>Fundraising deck</dc:subject>
  <dc:creator>OpenAI Codex</dc:creator>
  <cp:lastModifiedBy>OpenAI Codex</cp:lastModifiedBy>
  <cp:revision>1</cp:revision>
  <dcterms:created xsi:type="dcterms:W3CDTF">2026-03-27T07:12:56Z</dcterms:created>
  <dcterms:modified xsi:type="dcterms:W3CDTF">2026-03-27T07:12:56Z</dcterms:modified>
</cp:coreProperties>
</file>