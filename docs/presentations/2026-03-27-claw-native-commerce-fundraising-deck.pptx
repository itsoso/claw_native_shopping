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554480" cy="347472"/>
          </a:xfrm>
          <a:prstGeom prst="roundRect">
            <a:avLst>
              <a:gd name="adj" fmla="val 21053"/>
            </a:avLst>
          </a:prstGeom>
          <a:solidFill>
            <a:srgbClr val="B95E3C"/>
          </a:solidFill>
          <a:ln w="12700">
            <a:solidFill>
              <a:srgbClr val="B95E3C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45720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CLAW NATIVE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18320" y="438912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DAD5C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buyer-agent-first commerce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018520" y="438912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AD5C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1/10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9601200" y="-91440"/>
            <a:ext cx="3291840" cy="3291840"/>
          </a:xfrm>
          <a:prstGeom prst="ellipse">
            <a:avLst/>
          </a:prstGeom>
          <a:solidFill>
            <a:srgbClr val="E8C8BA">
              <a:alpha val="22000"/>
            </a:srgbClr>
          </a:solidFill>
          <a:ln w="12700">
            <a:solidFill>
              <a:srgbClr val="E8C8B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869680" y="3657600"/>
            <a:ext cx="4023360" cy="4023360"/>
          </a:xfrm>
          <a:prstGeom prst="ellipse">
            <a:avLst/>
          </a:prstGeom>
          <a:solidFill>
            <a:srgbClr val="677C71">
              <a:alpha val="22000"/>
            </a:srgbClr>
          </a:solidFill>
          <a:ln w="12700">
            <a:solidFill>
              <a:srgbClr val="677C7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77824" y="5193792"/>
            <a:ext cx="4498848" cy="566928"/>
          </a:xfrm>
          <a:prstGeom prst="roundRect">
            <a:avLst>
              <a:gd name="adj" fmla="val 12903"/>
            </a:avLst>
          </a:prstGeom>
          <a:solidFill>
            <a:srgbClr val="B95E3C">
              <a:alpha val="88000"/>
            </a:srgbClr>
          </a:solidFill>
          <a:ln w="12700">
            <a:solidFill>
              <a:srgbClr val="B95E3C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1499616"/>
            <a:ext cx="6035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Claw Native</a:t>
            </a:r>
            <a:endParaRPr lang="en-US" sz="3100" dirty="0"/>
          </a:p>
        </p:txBody>
      </p:sp>
      <p:sp>
        <p:nvSpPr>
          <p:cNvPr id="10" name="Text 8"/>
          <p:cNvSpPr/>
          <p:nvPr/>
        </p:nvSpPr>
        <p:spPr>
          <a:xfrm>
            <a:off x="868680" y="2221992"/>
            <a:ext cx="7680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CE5D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用户主代理时代的消费交易底座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877824" y="31729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D6CEC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shopping assistance to buyer-agent-first commerce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97280" y="5385816"/>
            <a:ext cx="4069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让代理替用户完成越来越多的购买决策与交易执行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EB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554480" cy="347472"/>
          </a:xfrm>
          <a:prstGeom prst="roundRect">
            <a:avLst>
              <a:gd name="adj" fmla="val 21053"/>
            </a:avLst>
          </a:prstGeom>
          <a:solidFill>
            <a:srgbClr val="1F2533"/>
          </a:solidFill>
          <a:ln w="12700">
            <a:solidFill>
              <a:srgbClr val="1F25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45720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CLAW NATIVE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18320" y="438912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C6F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buyer-agent-first commerce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018520" y="438912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6F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2/10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21792" y="6419088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6F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Claw Native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026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今天购物最大的成本，是决策，不是支付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822960" y="1719072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F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电商解决了供给和支付，但还没有解决决策负担。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77824" y="1828800"/>
            <a:ext cx="4983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026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用户买东西最耗时间的，不是付款，而是反复比较和判断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026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选规格、比卖家、看时效、算价格、决定是否现在下单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026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尤其在高频复购场景里，这些动作被不断重复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77824" y="4407408"/>
            <a:ext cx="4709160" cy="1143000"/>
          </a:xfrm>
          <a:prstGeom prst="roundRect">
            <a:avLst>
              <a:gd name="adj" fmla="val 5600"/>
            </a:avLst>
          </a:prstGeom>
          <a:solidFill>
            <a:srgbClr val="FBF7F1"/>
          </a:solidFill>
          <a:ln w="12700">
            <a:solidFill>
              <a:srgbClr val="FBF7F1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4608576"/>
            <a:ext cx="4270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B95E3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WE SEE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97280" y="4864608"/>
            <a:ext cx="4270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6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购物流程被优化了，购物决策没有。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97280" y="5321808"/>
            <a:ext cx="42702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C6F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这正是下一代消费代理的机会所在。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92240" y="1426464"/>
            <a:ext cx="448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F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认知负担 / 时间消耗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92240" y="1783080"/>
            <a:ext cx="4663440" cy="512064"/>
          </a:xfrm>
          <a:prstGeom prst="roundRect">
            <a:avLst>
              <a:gd name="adj" fmla="val 8929"/>
            </a:avLst>
          </a:prstGeom>
          <a:solidFill>
            <a:srgbClr val="FBF7F1"/>
          </a:solidFill>
          <a:ln w="12700">
            <a:solidFill>
              <a:srgbClr val="D8E1DB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20840" y="1892808"/>
            <a:ext cx="2560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95E3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150608" y="1892808"/>
            <a:ext cx="34747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026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打开商品页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92240" y="2496312"/>
            <a:ext cx="4663440" cy="512064"/>
          </a:xfrm>
          <a:prstGeom prst="roundRect">
            <a:avLst>
              <a:gd name="adj" fmla="val 8929"/>
            </a:avLst>
          </a:prstGeom>
          <a:solidFill>
            <a:srgbClr val="FBF7F1"/>
          </a:solidFill>
          <a:ln w="12700">
            <a:solidFill>
              <a:srgbClr val="D8E1DB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20840" y="2606040"/>
            <a:ext cx="2560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95E3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150608" y="2606040"/>
            <a:ext cx="34747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026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比卖家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92240" y="3209544"/>
            <a:ext cx="4663440" cy="512064"/>
          </a:xfrm>
          <a:prstGeom prst="roundRect">
            <a:avLst>
              <a:gd name="adj" fmla="val 8929"/>
            </a:avLst>
          </a:prstGeom>
          <a:solidFill>
            <a:srgbClr val="FBF7F1"/>
          </a:solidFill>
          <a:ln w="12700">
            <a:solidFill>
              <a:srgbClr val="D8E1DB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20840" y="3319272"/>
            <a:ext cx="2560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95E3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150608" y="3319272"/>
            <a:ext cx="34747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026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看时效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492240" y="3922776"/>
            <a:ext cx="4663440" cy="512064"/>
          </a:xfrm>
          <a:prstGeom prst="roundRect">
            <a:avLst>
              <a:gd name="adj" fmla="val 8929"/>
            </a:avLst>
          </a:prstGeom>
          <a:solidFill>
            <a:srgbClr val="FBF7F1"/>
          </a:solidFill>
          <a:ln w="12700">
            <a:solidFill>
              <a:srgbClr val="D8E1DB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20840" y="4032504"/>
            <a:ext cx="2560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95E3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150608" y="4032504"/>
            <a:ext cx="34747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026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算价格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492240" y="4636008"/>
            <a:ext cx="4663440" cy="512064"/>
          </a:xfrm>
          <a:prstGeom prst="roundRect">
            <a:avLst>
              <a:gd name="adj" fmla="val 8929"/>
            </a:avLst>
          </a:prstGeom>
          <a:solidFill>
            <a:srgbClr val="E8C8BA"/>
          </a:solidFill>
          <a:ln w="12700">
            <a:solidFill>
              <a:srgbClr val="B95E3C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20840" y="4745736"/>
            <a:ext cx="2560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95E3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150608" y="4745736"/>
            <a:ext cx="34747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026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决定是否下单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554480" cy="347472"/>
          </a:xfrm>
          <a:prstGeom prst="roundRect">
            <a:avLst>
              <a:gd name="adj" fmla="val 21053"/>
            </a:avLst>
          </a:prstGeom>
          <a:solidFill>
            <a:srgbClr val="1F2533"/>
          </a:solidFill>
          <a:ln w="12700">
            <a:solidFill>
              <a:srgbClr val="1F25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45720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CLAW NATIVE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18320" y="438912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C6F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buyer-agent-first commerce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018520" y="438912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6F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3/10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21792" y="6419088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6F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Claw Native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026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电商入口，正在从 App 迁移到 Agent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822960" y="1719072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F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这不是搜索和推荐的迭代，而是交易入口范式迁移。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77824" y="1874520"/>
            <a:ext cx="5074920" cy="3703320"/>
          </a:xfrm>
          <a:prstGeom prst="roundRect">
            <a:avLst>
              <a:gd name="adj" fmla="val 1728"/>
            </a:avLst>
          </a:prstGeom>
          <a:solidFill>
            <a:srgbClr val="E8C8BA"/>
          </a:solidFill>
          <a:ln w="12700">
            <a:solidFill>
              <a:srgbClr val="E8C8BA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207568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B95E3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OLD WORLD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97280" y="2331720"/>
            <a:ext cx="4636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026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 + 搜索 + 推荐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097280" y="2788920"/>
            <a:ext cx="463600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C6F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平台分发内容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6C6F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用户自己比较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6C6F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用户自己点击完成交易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6C6F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流量前台决定胜负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236208" y="1874520"/>
            <a:ext cx="5074920" cy="3703320"/>
          </a:xfrm>
          <a:prstGeom prst="roundRect">
            <a:avLst>
              <a:gd name="adj" fmla="val 1728"/>
            </a:avLst>
          </a:prstGeom>
          <a:solidFill>
            <a:srgbClr val="D8E1DB"/>
          </a:solidFill>
          <a:ln w="12700">
            <a:solidFill>
              <a:srgbClr val="D8E1DB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55664" y="207568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1F25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WORLD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55664" y="2331720"/>
            <a:ext cx="4636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026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 + 协议 + 编排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455664" y="2788920"/>
            <a:ext cx="463600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C6F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用户先交付任务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6C6F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代理完成 seller 选择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6C6F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交易通过协议执行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6C6F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编排层决定长期价值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EB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554480" cy="347472"/>
          </a:xfrm>
          <a:prstGeom prst="roundRect">
            <a:avLst>
              <a:gd name="adj" fmla="val 21053"/>
            </a:avLst>
          </a:prstGeom>
          <a:solidFill>
            <a:srgbClr val="1F2533"/>
          </a:solidFill>
          <a:ln w="12700">
            <a:solidFill>
              <a:srgbClr val="1F25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45720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CLAW NATIVE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18320" y="438912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C6F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buyer-agent-first commerce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018520" y="438912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6F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4/10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21792" y="6419088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6F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Claw Native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026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Claw Native：买方代理优先的消费决策与交易执行系统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822960" y="1719072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F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我们不是在优化“看什么”，而是在重构“怎么买”。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41248" y="2359152"/>
            <a:ext cx="1417320" cy="804672"/>
          </a:xfrm>
          <a:prstGeom prst="roundRect">
            <a:avLst>
              <a:gd name="adj" fmla="val 5682"/>
            </a:avLst>
          </a:prstGeom>
          <a:solidFill>
            <a:srgbClr val="1F2533"/>
          </a:solidFill>
          <a:ln w="12700">
            <a:solidFill>
              <a:srgbClr val="1F2533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9264" y="2523744"/>
            <a:ext cx="11612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用户任务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359152" y="2542032"/>
            <a:ext cx="310896" cy="438912"/>
          </a:xfrm>
          <a:prstGeom prst="chevron">
            <a:avLst/>
          </a:prstGeom>
          <a:solidFill>
            <a:srgbClr val="B95E3C"/>
          </a:solidFill>
          <a:ln w="12700">
            <a:solidFill>
              <a:srgbClr val="B95E3C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724912" y="2359152"/>
            <a:ext cx="1463040" cy="804672"/>
          </a:xfrm>
          <a:prstGeom prst="roundRect">
            <a:avLst>
              <a:gd name="adj" fmla="val 5682"/>
            </a:avLst>
          </a:prstGeom>
          <a:solidFill>
            <a:srgbClr val="FBF7F1"/>
          </a:solidFill>
          <a:ln w="12700">
            <a:solidFill>
              <a:srgbClr val="FBF7F1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852928" y="2523744"/>
            <a:ext cx="120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026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Intent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270248" y="2542032"/>
            <a:ext cx="310896" cy="438912"/>
          </a:xfrm>
          <a:prstGeom prst="chevron">
            <a:avLst/>
          </a:prstGeom>
          <a:solidFill>
            <a:srgbClr val="B95E3C"/>
          </a:solidFill>
          <a:ln w="12700">
            <a:solidFill>
              <a:srgbClr val="B95E3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26864" y="2359152"/>
            <a:ext cx="1444752" cy="804672"/>
          </a:xfrm>
          <a:prstGeom prst="roundRect">
            <a:avLst>
              <a:gd name="adj" fmla="val 5682"/>
            </a:avLst>
          </a:prstGeom>
          <a:solidFill>
            <a:srgbClr val="FBF7F1"/>
          </a:solidFill>
          <a:ln w="12700">
            <a:solidFill>
              <a:srgbClr val="FBF7F1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0" y="2523744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026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Seller 比选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72200" y="2542032"/>
            <a:ext cx="310896" cy="438912"/>
          </a:xfrm>
          <a:prstGeom prst="chevron">
            <a:avLst/>
          </a:prstGeom>
          <a:solidFill>
            <a:srgbClr val="B95E3C"/>
          </a:solidFill>
          <a:ln w="12700">
            <a:solidFill>
              <a:srgbClr val="B95E3C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37960" y="2359152"/>
            <a:ext cx="1261872" cy="804672"/>
          </a:xfrm>
          <a:prstGeom prst="roundRect">
            <a:avLst>
              <a:gd name="adj" fmla="val 5682"/>
            </a:avLst>
          </a:prstGeom>
          <a:solidFill>
            <a:srgbClr val="FBF7F1"/>
          </a:solidFill>
          <a:ln w="12700">
            <a:solidFill>
              <a:srgbClr val="FBF7F1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65976" y="2523744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026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Policy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882128" y="2542032"/>
            <a:ext cx="310896" cy="438912"/>
          </a:xfrm>
          <a:prstGeom prst="chevron">
            <a:avLst/>
          </a:prstGeom>
          <a:solidFill>
            <a:srgbClr val="B95E3C"/>
          </a:solidFill>
          <a:ln w="12700">
            <a:solidFill>
              <a:srgbClr val="B95E3C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47888" y="2359152"/>
            <a:ext cx="1133856" cy="804672"/>
          </a:xfrm>
          <a:prstGeom prst="roundRect">
            <a:avLst>
              <a:gd name="adj" fmla="val 5682"/>
            </a:avLst>
          </a:prstGeom>
          <a:solidFill>
            <a:srgbClr val="FBF7F1"/>
          </a:solidFill>
          <a:ln w="12700">
            <a:solidFill>
              <a:srgbClr val="FBF7F1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75904" y="2523744"/>
            <a:ext cx="8778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026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473184" y="2542032"/>
            <a:ext cx="310896" cy="438912"/>
          </a:xfrm>
          <a:prstGeom prst="chevron">
            <a:avLst/>
          </a:prstGeom>
          <a:solidFill>
            <a:srgbClr val="B95E3C"/>
          </a:solidFill>
          <a:ln w="12700">
            <a:solidFill>
              <a:srgbClr val="B95E3C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857232" y="2359152"/>
            <a:ext cx="1463040" cy="804672"/>
          </a:xfrm>
          <a:prstGeom prst="roundRect">
            <a:avLst>
              <a:gd name="adj" fmla="val 5682"/>
            </a:avLst>
          </a:prstGeom>
          <a:solidFill>
            <a:srgbClr val="B95E3C"/>
          </a:solidFill>
          <a:ln w="12700">
            <a:solidFill>
              <a:srgbClr val="B95E3C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985248" y="2523744"/>
            <a:ext cx="12070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Explanation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914400" y="3913632"/>
            <a:ext cx="3429000" cy="1261872"/>
          </a:xfrm>
          <a:prstGeom prst="roundRect">
            <a:avLst>
              <a:gd name="adj" fmla="val 5072"/>
            </a:avLst>
          </a:prstGeom>
          <a:solidFill>
            <a:srgbClr val="FBF7F1"/>
          </a:solidFill>
          <a:ln w="12700">
            <a:solidFill>
              <a:srgbClr val="FBF7F1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133856" y="4114800"/>
            <a:ext cx="29900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B95E3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33856" y="4370832"/>
            <a:ext cx="2990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026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导购 / 比价工具 / 会聊天的电商助手</a:t>
            </a:r>
            <a:endParaRPr lang="en-US" sz="1550" dirty="0"/>
          </a:p>
        </p:txBody>
      </p:sp>
      <p:sp>
        <p:nvSpPr>
          <p:cNvPr id="29" name="Shape 27"/>
          <p:cNvSpPr/>
          <p:nvPr/>
        </p:nvSpPr>
        <p:spPr>
          <a:xfrm>
            <a:off x="4553712" y="3913632"/>
            <a:ext cx="3090672" cy="1261872"/>
          </a:xfrm>
          <a:prstGeom prst="roundRect">
            <a:avLst>
              <a:gd name="adj" fmla="val 5072"/>
            </a:avLst>
          </a:prstGeom>
          <a:solidFill>
            <a:srgbClr val="D8E1DB"/>
          </a:solidFill>
          <a:ln w="12700">
            <a:solidFill>
              <a:srgbClr val="D8E1DB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73168" y="4114800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1F25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773168" y="4370832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026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购物副驾 + buyer API + orchestrator</a:t>
            </a:r>
            <a:endParaRPr lang="en-US" sz="1550" dirty="0"/>
          </a:p>
        </p:txBody>
      </p:sp>
      <p:sp>
        <p:nvSpPr>
          <p:cNvPr id="32" name="Shape 30"/>
          <p:cNvSpPr/>
          <p:nvPr/>
        </p:nvSpPr>
        <p:spPr>
          <a:xfrm>
            <a:off x="7863840" y="3913632"/>
            <a:ext cx="3337560" cy="1261872"/>
          </a:xfrm>
          <a:prstGeom prst="roundRect">
            <a:avLst>
              <a:gd name="adj" fmla="val 5072"/>
            </a:avLst>
          </a:prstGeom>
          <a:solidFill>
            <a:srgbClr val="E8C8BA"/>
          </a:solidFill>
          <a:ln w="12700">
            <a:solidFill>
              <a:srgbClr val="E8C8BA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3296" y="4114800"/>
            <a:ext cx="28986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B95E3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083296" y="4370832"/>
            <a:ext cx="2898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026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从建议升级到结构化交易执行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554480" cy="347472"/>
          </a:xfrm>
          <a:prstGeom prst="roundRect">
            <a:avLst>
              <a:gd name="adj" fmla="val 21053"/>
            </a:avLst>
          </a:prstGeom>
          <a:solidFill>
            <a:srgbClr val="1F2533"/>
          </a:solidFill>
          <a:ln w="12700">
            <a:solidFill>
              <a:srgbClr val="1F25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45720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CLAW NATIVE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18320" y="438912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C6F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buyer-agent-first commerce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018520" y="438912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6F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5/10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21792" y="6419088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6F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Claw Native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026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当前产品已经跑通最小闭环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822960" y="1719072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F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这不是 PPT 架构，而是可以真实演示的最小系统。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96112" y="1810512"/>
            <a:ext cx="4892040" cy="3364992"/>
          </a:xfrm>
          <a:prstGeom prst="roundRect">
            <a:avLst>
              <a:gd name="adj" fmla="val 1630"/>
            </a:avLst>
          </a:prstGeom>
          <a:solidFill>
            <a:srgbClr val="FBF7F1"/>
          </a:solidFill>
          <a:ln w="12700">
            <a:solidFill>
              <a:srgbClr val="1F2533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96112" y="1810512"/>
            <a:ext cx="4892040" cy="310896"/>
          </a:xfrm>
          <a:prstGeom prst="rect">
            <a:avLst/>
          </a:prstGeom>
          <a:solidFill>
            <a:srgbClr val="1F2533"/>
          </a:solidFill>
          <a:ln w="12700">
            <a:solidFill>
              <a:srgbClr val="1F2533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1883664"/>
            <a:ext cx="4489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用户侧 / JD 购物副驾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97280" y="2432304"/>
            <a:ext cx="4489704" cy="347472"/>
          </a:xfrm>
          <a:prstGeom prst="roundRect">
            <a:avLst>
              <a:gd name="adj" fmla="val 10526"/>
            </a:avLst>
          </a:prstGeom>
          <a:solidFill>
            <a:srgbClr val="E8C8BA"/>
          </a:solidFill>
          <a:ln w="12700">
            <a:solidFill>
              <a:srgbClr val="1F2533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07008" y="2532888"/>
            <a:ext cx="4270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6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商品页一句话建议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097280" y="2935224"/>
            <a:ext cx="4489704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8E1D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07008" y="3035808"/>
            <a:ext cx="4270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6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购物车执行方案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097280" y="3438144"/>
            <a:ext cx="4489704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8E1DB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07008" y="3538728"/>
            <a:ext cx="4270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6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本地偏好与事件存储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097280" y="3941064"/>
            <a:ext cx="4489704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8E1DB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07008" y="4041648"/>
            <a:ext cx="4270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6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真实购物现场入口层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0" y="1810512"/>
            <a:ext cx="4892040" cy="3364992"/>
          </a:xfrm>
          <a:prstGeom prst="roundRect">
            <a:avLst>
              <a:gd name="adj" fmla="val 1630"/>
            </a:avLst>
          </a:prstGeom>
          <a:solidFill>
            <a:srgbClr val="FBF7F1"/>
          </a:solidFill>
          <a:ln w="12700">
            <a:solidFill>
              <a:srgbClr val="B95E3C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0" y="1810512"/>
            <a:ext cx="4892040" cy="310896"/>
          </a:xfrm>
          <a:prstGeom prst="rect">
            <a:avLst/>
          </a:prstGeom>
          <a:solidFill>
            <a:srgbClr val="B95E3C"/>
          </a:solidFill>
          <a:ln w="12700">
            <a:solidFill>
              <a:srgbClr val="B95E3C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01968" y="1883664"/>
            <a:ext cx="4489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系统侧 / Native Commerce Backend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601968" y="2432304"/>
            <a:ext cx="4489704" cy="347472"/>
          </a:xfrm>
          <a:prstGeom prst="roundRect">
            <a:avLst>
              <a:gd name="adj" fmla="val 10526"/>
            </a:avLst>
          </a:prstGeom>
          <a:solidFill>
            <a:srgbClr val="E8C8BA"/>
          </a:solidFill>
          <a:ln w="12700">
            <a:solidFill>
              <a:srgbClr val="B95E3C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11696" y="2532888"/>
            <a:ext cx="4270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6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API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601968" y="2935224"/>
            <a:ext cx="4489704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8E1DB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11696" y="3035808"/>
            <a:ext cx="4270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6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procurement orchestrator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601968" y="3438144"/>
            <a:ext cx="4489704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8E1DB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11696" y="3538728"/>
            <a:ext cx="4270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6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seller-sim + seller protocol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601968" y="3941064"/>
            <a:ext cx="4489704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8E1DB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711696" y="4041648"/>
            <a:ext cx="4270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6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 validation console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806440" y="3127248"/>
            <a:ext cx="347472" cy="438912"/>
          </a:xfrm>
          <a:prstGeom prst="chevron">
            <a:avLst/>
          </a:prstGeom>
          <a:solidFill>
            <a:srgbClr val="677C71"/>
          </a:solidFill>
          <a:ln w="12700">
            <a:solidFill>
              <a:srgbClr val="677C71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443984" y="5440680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C6F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从用户现场到交易后端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F2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554480" cy="347472"/>
          </a:xfrm>
          <a:prstGeom prst="roundRect">
            <a:avLst>
              <a:gd name="adj" fmla="val 21053"/>
            </a:avLst>
          </a:prstGeom>
          <a:solidFill>
            <a:srgbClr val="B95E3C"/>
          </a:solidFill>
          <a:ln w="12700">
            <a:solidFill>
              <a:srgbClr val="B95E3C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45720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CLAW NATIVE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18320" y="438912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DAD5C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buyer-agent-first commerce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018520" y="438912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AD5C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6/10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21792" y="6419088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AD5C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Claw Native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系统已经能完成一条真实代理交易链路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822960" y="171907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CEC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从建议到执行，中间不是黑箱，而是结构化链路。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13232" y="2880360"/>
            <a:ext cx="1234440" cy="960120"/>
          </a:xfrm>
          <a:prstGeom prst="roundRect">
            <a:avLst>
              <a:gd name="adj" fmla="val 4762"/>
            </a:avLst>
          </a:prstGeom>
          <a:solidFill>
            <a:srgbClr val="B95E3C"/>
          </a:solidFill>
          <a:ln w="12700">
            <a:solidFill>
              <a:srgbClr val="B95E3C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3044952"/>
            <a:ext cx="97840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结构化补货请求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965960" y="3145536"/>
            <a:ext cx="201168" cy="402336"/>
          </a:xfrm>
          <a:prstGeom prst="chevron">
            <a:avLst/>
          </a:prstGeom>
          <a:solidFill>
            <a:srgbClr val="E8C8BA"/>
          </a:solidFill>
          <a:ln w="12700">
            <a:solidFill>
              <a:srgbClr val="E8C8B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30552" y="2880360"/>
            <a:ext cx="1234440" cy="960120"/>
          </a:xfrm>
          <a:prstGeom prst="roundRect">
            <a:avLst>
              <a:gd name="adj" fmla="val 4762"/>
            </a:avLst>
          </a:prstGeom>
          <a:solidFill>
            <a:srgbClr val="3D4658"/>
          </a:solidFill>
          <a:ln w="12700">
            <a:solidFill>
              <a:srgbClr val="3D4658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258568" y="3044952"/>
            <a:ext cx="97840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Procurement Intent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383280" y="3145536"/>
            <a:ext cx="201168" cy="402336"/>
          </a:xfrm>
          <a:prstGeom prst="chevron">
            <a:avLst/>
          </a:prstGeom>
          <a:solidFill>
            <a:srgbClr val="E8C8BA"/>
          </a:solidFill>
          <a:ln w="12700">
            <a:solidFill>
              <a:srgbClr val="E8C8BA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47872" y="2880360"/>
            <a:ext cx="1234440" cy="960120"/>
          </a:xfrm>
          <a:prstGeom prst="roundRect">
            <a:avLst>
              <a:gd name="adj" fmla="val 4762"/>
            </a:avLst>
          </a:prstGeom>
          <a:solidFill>
            <a:srgbClr val="677C71"/>
          </a:solidFill>
          <a:ln w="12700">
            <a:solidFill>
              <a:srgbClr val="677C71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75888" y="3044952"/>
            <a:ext cx="97840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多 Seller Quote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800600" y="3145536"/>
            <a:ext cx="201168" cy="402336"/>
          </a:xfrm>
          <a:prstGeom prst="chevron">
            <a:avLst/>
          </a:prstGeom>
          <a:solidFill>
            <a:srgbClr val="E8C8BA"/>
          </a:solidFill>
          <a:ln w="12700">
            <a:solidFill>
              <a:srgbClr val="E8C8BA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965192" y="2880360"/>
            <a:ext cx="1234440" cy="960120"/>
          </a:xfrm>
          <a:prstGeom prst="roundRect">
            <a:avLst>
              <a:gd name="adj" fmla="val 4762"/>
            </a:avLst>
          </a:prstGeom>
          <a:solidFill>
            <a:srgbClr val="B95E3C"/>
          </a:solidFill>
          <a:ln w="12700">
            <a:solidFill>
              <a:srgbClr val="B95E3C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93208" y="3044952"/>
            <a:ext cx="97840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Offer Ranking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17920" y="3145536"/>
            <a:ext cx="201168" cy="402336"/>
          </a:xfrm>
          <a:prstGeom prst="chevron">
            <a:avLst/>
          </a:prstGeom>
          <a:solidFill>
            <a:srgbClr val="E8C8BA"/>
          </a:solidFill>
          <a:ln w="12700">
            <a:solidFill>
              <a:srgbClr val="E8C8BA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82512" y="2880360"/>
            <a:ext cx="1234440" cy="960120"/>
          </a:xfrm>
          <a:prstGeom prst="roundRect">
            <a:avLst>
              <a:gd name="adj" fmla="val 4762"/>
            </a:avLst>
          </a:prstGeom>
          <a:solidFill>
            <a:srgbClr val="3D4658"/>
          </a:solidFill>
          <a:ln w="12700">
            <a:solidFill>
              <a:srgbClr val="3D4658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10528" y="3044952"/>
            <a:ext cx="97840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Policy Evaluation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635240" y="3145536"/>
            <a:ext cx="201168" cy="402336"/>
          </a:xfrm>
          <a:prstGeom prst="chevron">
            <a:avLst/>
          </a:prstGeom>
          <a:solidFill>
            <a:srgbClr val="E8C8BA"/>
          </a:solidFill>
          <a:ln w="12700">
            <a:solidFill>
              <a:srgbClr val="E8C8BA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99832" y="2880360"/>
            <a:ext cx="1234440" cy="960120"/>
          </a:xfrm>
          <a:prstGeom prst="roundRect">
            <a:avLst>
              <a:gd name="adj" fmla="val 4762"/>
            </a:avLst>
          </a:prstGeom>
          <a:solidFill>
            <a:srgbClr val="677C71"/>
          </a:solidFill>
          <a:ln w="12700">
            <a:solidFill>
              <a:srgbClr val="677C71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927848" y="3044952"/>
            <a:ext cx="97840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Inventory Hold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052560" y="3145536"/>
            <a:ext cx="201168" cy="402336"/>
          </a:xfrm>
          <a:prstGeom prst="chevron">
            <a:avLst/>
          </a:prstGeom>
          <a:solidFill>
            <a:srgbClr val="E8C8BA"/>
          </a:solidFill>
          <a:ln w="12700">
            <a:solidFill>
              <a:srgbClr val="E8C8BA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217152" y="2880360"/>
            <a:ext cx="1234440" cy="960120"/>
          </a:xfrm>
          <a:prstGeom prst="roundRect">
            <a:avLst>
              <a:gd name="adj" fmla="val 4762"/>
            </a:avLst>
          </a:prstGeom>
          <a:solidFill>
            <a:srgbClr val="B95E3C"/>
          </a:solidFill>
          <a:ln w="12700">
            <a:solidFill>
              <a:srgbClr val="B95E3C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45168" y="3044952"/>
            <a:ext cx="97840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Order Commit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0469880" y="3145536"/>
            <a:ext cx="201168" cy="402336"/>
          </a:xfrm>
          <a:prstGeom prst="chevron">
            <a:avLst/>
          </a:prstGeom>
          <a:solidFill>
            <a:srgbClr val="E8C8BA"/>
          </a:solidFill>
          <a:ln w="12700">
            <a:solidFill>
              <a:srgbClr val="E8C8BA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634472" y="2880360"/>
            <a:ext cx="123444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762488" y="3044952"/>
            <a:ext cx="97840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26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Explanation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005840" y="4800600"/>
            <a:ext cx="10149840" cy="960120"/>
          </a:xfrm>
          <a:prstGeom prst="roundRect">
            <a:avLst>
              <a:gd name="adj" fmla="val 6667"/>
            </a:avLst>
          </a:prstGeom>
          <a:solidFill>
            <a:srgbClr val="2E3645"/>
          </a:solidFill>
          <a:ln w="12700">
            <a:solidFill>
              <a:srgbClr val="2E3645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225296" y="5001768"/>
            <a:ext cx="9710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E8C8B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POINT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225296" y="5257800"/>
            <a:ext cx="9710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重点不是我们有页面，而是我们已经有了 seller 选择、策略判断和 explanation 这些代理式交易的核心步骤。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EB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554480" cy="347472"/>
          </a:xfrm>
          <a:prstGeom prst="roundRect">
            <a:avLst>
              <a:gd name="adj" fmla="val 21053"/>
            </a:avLst>
          </a:prstGeom>
          <a:solidFill>
            <a:srgbClr val="1F2533"/>
          </a:solidFill>
          <a:ln w="12700">
            <a:solidFill>
              <a:srgbClr val="1F25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45720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CLAW NATIVE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18320" y="438912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C6F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buyer-agent-first commerce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018520" y="438912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6F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7/10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21792" y="6419088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6F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Claw Native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026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真正的壁垒，不在模型，而在交易编排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822960" y="1719072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F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长期护城河来自系统位置，而不是单次回答质量。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800600" y="2148840"/>
            <a:ext cx="2560320" cy="2560320"/>
          </a:xfrm>
          <a:prstGeom prst="ellipse">
            <a:avLst/>
          </a:prstGeom>
          <a:solidFill>
            <a:srgbClr val="B95E3C"/>
          </a:solidFill>
          <a:ln w="12700">
            <a:solidFill>
              <a:srgbClr val="B95E3C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47488" y="2852928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Orchestrator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5084064" y="3246120"/>
            <a:ext cx="19933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F6EAD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single transaction brain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68680" y="2011680"/>
            <a:ext cx="2834640" cy="1051560"/>
          </a:xfrm>
          <a:prstGeom prst="roundRect">
            <a:avLst>
              <a:gd name="adj" fmla="val 6087"/>
            </a:avLst>
          </a:prstGeom>
          <a:solidFill>
            <a:srgbClr val="FBF7F1"/>
          </a:solidFill>
          <a:ln w="12700">
            <a:solidFill>
              <a:srgbClr val="FBF7F1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88136" y="2249424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6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API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88136" y="2834640"/>
            <a:ext cx="2395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C6F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代理交易入口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68680" y="3657600"/>
            <a:ext cx="2834640" cy="1051560"/>
          </a:xfrm>
          <a:prstGeom prst="roundRect">
            <a:avLst>
              <a:gd name="adj" fmla="val 6087"/>
            </a:avLst>
          </a:prstGeom>
          <a:solidFill>
            <a:srgbClr val="D8E1DB"/>
          </a:solidFill>
          <a:ln w="12700">
            <a:solidFill>
              <a:srgbClr val="D8E1DB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88136" y="3895344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6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seller protocol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88136" y="4480560"/>
            <a:ext cx="2395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C6F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卖家交互边界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485632" y="2011680"/>
            <a:ext cx="2834640" cy="1051560"/>
          </a:xfrm>
          <a:prstGeom prst="roundRect">
            <a:avLst>
              <a:gd name="adj" fmla="val 6087"/>
            </a:avLst>
          </a:prstGeom>
          <a:solidFill>
            <a:srgbClr val="FBF7F1"/>
          </a:solidFill>
          <a:ln w="12700">
            <a:solidFill>
              <a:srgbClr val="FBF7F1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05088" y="2249424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6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offer evaluator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705088" y="2834640"/>
            <a:ext cx="2395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C6F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多 seller 自动比选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485632" y="3657600"/>
            <a:ext cx="2834640" cy="1051560"/>
          </a:xfrm>
          <a:prstGeom prst="roundRect">
            <a:avLst>
              <a:gd name="adj" fmla="val 6087"/>
            </a:avLst>
          </a:prstGeom>
          <a:solidFill>
            <a:srgbClr val="D8E1DB"/>
          </a:solidFill>
          <a:ln w="12700">
            <a:solidFill>
              <a:srgbClr val="D8E1DB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05088" y="3895344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6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policy engine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705088" y="4480560"/>
            <a:ext cx="2395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C6F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风险和授权控制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657600" y="5212080"/>
            <a:ext cx="4800600" cy="804672"/>
          </a:xfrm>
          <a:prstGeom prst="roundRect">
            <a:avLst>
              <a:gd name="adj" fmla="val 7955"/>
            </a:avLst>
          </a:prstGeom>
          <a:solidFill>
            <a:srgbClr val="E8C8BA"/>
          </a:solidFill>
          <a:ln w="12700">
            <a:solidFill>
              <a:srgbClr val="E8C8BA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77056" y="5449824"/>
            <a:ext cx="4361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6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explanation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3877056" y="6035040"/>
            <a:ext cx="4361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C6F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信任和追责基础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554480" cy="347472"/>
          </a:xfrm>
          <a:prstGeom prst="roundRect">
            <a:avLst>
              <a:gd name="adj" fmla="val 21053"/>
            </a:avLst>
          </a:prstGeom>
          <a:solidFill>
            <a:srgbClr val="1F2533"/>
          </a:solidFill>
          <a:ln w="12700">
            <a:solidFill>
              <a:srgbClr val="1F25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45720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CLAW NATIVE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18320" y="438912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C6F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buyer-agent-first commerce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018520" y="438912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6F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8/10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21792" y="6419088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6F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Claw Native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026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我们从高频消费切入，但目标不是小工具市场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822960" y="1719072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F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从最容易验证代理价值的场景切入，向更大的 agent commerce 扩展。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14400" y="4937760"/>
            <a:ext cx="1828800" cy="676656"/>
          </a:xfrm>
          <a:prstGeom prst="roundRect">
            <a:avLst>
              <a:gd name="adj" fmla="val 9459"/>
            </a:avLst>
          </a:prstGeom>
          <a:solidFill>
            <a:srgbClr val="E8C8BA"/>
          </a:solidFill>
          <a:ln w="12700">
            <a:solidFill>
              <a:srgbClr val="E8C8BA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33856" y="5175504"/>
            <a:ext cx="138988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6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高频日用品复购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2788920" y="4297680"/>
            <a:ext cx="1920240" cy="868680"/>
          </a:xfrm>
          <a:prstGeom prst="roundRect">
            <a:avLst>
              <a:gd name="adj" fmla="val 7368"/>
            </a:avLst>
          </a:prstGeom>
          <a:solidFill>
            <a:srgbClr val="D8E1DB"/>
          </a:solidFill>
          <a:ln w="12700">
            <a:solidFill>
              <a:srgbClr val="D8E1DB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08376" y="4535424"/>
            <a:ext cx="1481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6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家庭采购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754880" y="3520440"/>
            <a:ext cx="1965960" cy="1051560"/>
          </a:xfrm>
          <a:prstGeom prst="roundRect">
            <a:avLst>
              <a:gd name="adj" fmla="val 6087"/>
            </a:avLst>
          </a:prstGeom>
          <a:solidFill>
            <a:srgbClr val="E8C8BA"/>
          </a:solidFill>
          <a:ln w="12700">
            <a:solidFill>
              <a:srgbClr val="E8C8BA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74336" y="3758184"/>
            <a:ext cx="152704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6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本地生活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766560" y="2606040"/>
            <a:ext cx="2011680" cy="1234440"/>
          </a:xfrm>
          <a:prstGeom prst="roundRect">
            <a:avLst>
              <a:gd name="adj" fmla="val 5185"/>
            </a:avLst>
          </a:prstGeom>
          <a:solidFill>
            <a:srgbClr val="D8E1DB"/>
          </a:solidFill>
          <a:ln w="12700">
            <a:solidFill>
              <a:srgbClr val="D8E1DB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86016" y="2843784"/>
            <a:ext cx="157276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6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企业采购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823960" y="1508760"/>
            <a:ext cx="2331720" cy="1508760"/>
          </a:xfrm>
          <a:prstGeom prst="roundRect">
            <a:avLst>
              <a:gd name="adj" fmla="val 4242"/>
            </a:avLst>
          </a:prstGeom>
          <a:solidFill>
            <a:srgbClr val="1F2533"/>
          </a:solidFill>
          <a:ln w="12700">
            <a:solidFill>
              <a:srgbClr val="1F2533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43416" y="1746504"/>
            <a:ext cx="189280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 Commerce Network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14400" y="146304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6F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切入顺序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EB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554480" cy="347472"/>
          </a:xfrm>
          <a:prstGeom prst="roundRect">
            <a:avLst>
              <a:gd name="adj" fmla="val 21053"/>
            </a:avLst>
          </a:prstGeom>
          <a:solidFill>
            <a:srgbClr val="1F2533"/>
          </a:solidFill>
          <a:ln w="12700">
            <a:solidFill>
              <a:srgbClr val="1F25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45720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CLAW NATIVE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18320" y="438912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C6F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buyer-agent-first commerce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018520" y="438912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6F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9/10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21792" y="6419088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6F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Claw Native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026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商业模式会从代理价值，走向交易价值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822960" y="1719072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F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谁掌握交易执行权，谁就掌握长期商业价值。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77824" y="1874520"/>
            <a:ext cx="3383280" cy="3611880"/>
          </a:xfrm>
          <a:prstGeom prst="roundRect">
            <a:avLst>
              <a:gd name="adj" fmla="val 1892"/>
            </a:avLst>
          </a:prstGeom>
          <a:solidFill>
            <a:srgbClr val="FBF7F1"/>
          </a:solidFill>
          <a:ln w="12700">
            <a:solidFill>
              <a:srgbClr val="FBF7F1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2075688"/>
            <a:ext cx="2944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B95E3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EARLY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97280" y="2331720"/>
            <a:ext cx="29443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26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会员订阅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026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返佣 / CPS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026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高频代理服务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97280" y="2788920"/>
            <a:ext cx="2944368" cy="2587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C6F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围绕“帮用户更快完成购买任务”建立早期付费和交易验证。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407408" y="1874520"/>
            <a:ext cx="3383280" cy="3611880"/>
          </a:xfrm>
          <a:prstGeom prst="roundRect">
            <a:avLst>
              <a:gd name="adj" fmla="val 1892"/>
            </a:avLst>
          </a:prstGeom>
          <a:solidFill>
            <a:srgbClr val="D8E1DB"/>
          </a:solidFill>
          <a:ln w="12700">
            <a:solidFill>
              <a:srgbClr val="D8E1DB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26864" y="2075688"/>
            <a:ext cx="2944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1F25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26864" y="2331720"/>
            <a:ext cx="29443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26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交易分成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026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seller 接入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026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企业采购 agent 收费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626864" y="2788920"/>
            <a:ext cx="2944368" cy="2587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C6F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围绕更深层的代理交易执行权建立平台化收入结构。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936992" y="1874520"/>
            <a:ext cx="3383280" cy="3611880"/>
          </a:xfrm>
          <a:prstGeom prst="roundRect">
            <a:avLst>
              <a:gd name="adj" fmla="val 1892"/>
            </a:avLst>
          </a:prstGeom>
          <a:solidFill>
            <a:srgbClr val="E8C8BA"/>
          </a:solidFill>
          <a:ln w="12700">
            <a:solidFill>
              <a:srgbClr val="E8C8BA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56448" y="2075688"/>
            <a:ext cx="2944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B95E3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 TERM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156448" y="2331720"/>
            <a:ext cx="29443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26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 Commerce Infrastructure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156448" y="2788920"/>
            <a:ext cx="2944368" cy="2587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C6F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从单点产品走向 buyer-side transaction operating layer。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2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554480" cy="347472"/>
          </a:xfrm>
          <a:prstGeom prst="roundRect">
            <a:avLst>
              <a:gd name="adj" fmla="val 21053"/>
            </a:avLst>
          </a:prstGeom>
          <a:solidFill>
            <a:srgbClr val="B95E3C"/>
          </a:solidFill>
          <a:ln w="12700">
            <a:solidFill>
              <a:srgbClr val="B95E3C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21792" y="45720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CLAW NATIVE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418320" y="438912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DAD5C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buyer-agent-first commerce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018520" y="438912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AD5C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10/10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68680" y="1234440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我们想占据的，不是新的流量位，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68680" y="1755648"/>
            <a:ext cx="7863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CE5D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而是主代理背后的交易底座</a:t>
            </a:r>
            <a:endParaRPr lang="en-US" sz="3100" dirty="0"/>
          </a:p>
        </p:txBody>
      </p:sp>
      <p:sp>
        <p:nvSpPr>
          <p:cNvPr id="8" name="Shape 6"/>
          <p:cNvSpPr/>
          <p:nvPr/>
        </p:nvSpPr>
        <p:spPr>
          <a:xfrm>
            <a:off x="877824" y="3794760"/>
            <a:ext cx="2880360" cy="1536192"/>
          </a:xfrm>
          <a:prstGeom prst="roundRect">
            <a:avLst>
              <a:gd name="adj" fmla="val 4167"/>
            </a:avLst>
          </a:prstGeom>
          <a:solidFill>
            <a:srgbClr val="2F3848"/>
          </a:solidFill>
          <a:ln w="12700">
            <a:solidFill>
              <a:srgbClr val="2F3848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3995928"/>
            <a:ext cx="2441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E8C8B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97280" y="4251960"/>
            <a:ext cx="2441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真实 seller network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709160"/>
            <a:ext cx="2441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6CEC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替代 seller-sim，进入真实协议接入。 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078224" y="3794760"/>
            <a:ext cx="2880360" cy="1536192"/>
          </a:xfrm>
          <a:prstGeom prst="roundRect">
            <a:avLst>
              <a:gd name="adj" fmla="val 4167"/>
            </a:avLst>
          </a:prstGeom>
          <a:solidFill>
            <a:srgbClr val="2F3848"/>
          </a:solidFill>
          <a:ln w="12700">
            <a:solidFill>
              <a:srgbClr val="2F3848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97680" y="3995928"/>
            <a:ext cx="2441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E8C8B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297680" y="4251960"/>
            <a:ext cx="2441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前端与 buyer API 打通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297680" y="4709160"/>
            <a:ext cx="2441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6CEC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让购物副驾进入真实代理交易后端。 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278624" y="3794760"/>
            <a:ext cx="2880360" cy="1536192"/>
          </a:xfrm>
          <a:prstGeom prst="roundRect">
            <a:avLst>
              <a:gd name="adj" fmla="val 4167"/>
            </a:avLst>
          </a:prstGeom>
          <a:solidFill>
            <a:srgbClr val="2F3848"/>
          </a:solidFill>
          <a:ln w="12700">
            <a:solidFill>
              <a:srgbClr val="2F3848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0" y="3995928"/>
            <a:ext cx="2441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E8C8B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498080" y="4251960"/>
            <a:ext cx="2441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生产级交易底座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498080" y="4709160"/>
            <a:ext cx="2441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6CEC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升级持久化、审计与商业化验证。 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77824" y="5806440"/>
            <a:ext cx="6080760" cy="658368"/>
          </a:xfrm>
          <a:prstGeom prst="roundRect">
            <a:avLst>
              <a:gd name="adj" fmla="val 11111"/>
            </a:avLst>
          </a:prstGeom>
          <a:solidFill>
            <a:srgbClr val="B95E3C">
              <a:alpha val="90000"/>
            </a:srgbClr>
          </a:solidFill>
          <a:ln w="12700">
            <a:solidFill>
              <a:srgbClr val="B95E3C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15568" y="5998464"/>
            <a:ext cx="5623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Claw Native 不是更聪明的导购，而是用户主代理时代的消费交易底座。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Claw Native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Claw Native Fundraising Deck</dc:title>
  <dc:subject>Fundraising deck</dc:subject>
  <dc:creator>OpenAI Codex</dc:creator>
  <cp:lastModifiedBy>OpenAI Codex</cp:lastModifiedBy>
  <cp:revision>1</cp:revision>
  <dcterms:created xsi:type="dcterms:W3CDTF">2026-03-27T01:34:40Z</dcterms:created>
  <dcterms:modified xsi:type="dcterms:W3CDTF">2026-03-27T01:34:40Z</dcterms:modified>
</cp:coreProperties>
</file>